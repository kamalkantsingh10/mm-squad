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1371600" cy="32918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Modernisation with AI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Proof-of-Concept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 &amp; Findings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2414016"/>
            <a:ext cx="8595360" cy="3657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78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79806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core thesis of the whitepaper in practice — assembling a structured, human-orchestrated COBOL modernisation pipeline from GitHub Copilot, GitLab, and the BMAD agentic framework using tools that are already licensed and operational. No procurement. No new infrastructure. No lengthy setup phase.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74320" y="3767328"/>
            <a:ext cx="2743200" cy="969264"/>
          </a:xfrm>
          <a:prstGeom prst="rect">
            <a:avLst/>
          </a:prstGeom>
          <a:solidFill>
            <a:srgbClr val="0A1A2A"/>
          </a:solidFill>
          <a:ln w="12700">
            <a:solidFill>
              <a:srgbClr val="0D62A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767328"/>
            <a:ext cx="54864" cy="9692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840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9264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Built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9264" y="4169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GitHub Copilot slash commands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767328"/>
            <a:ext cx="2743200" cy="969264"/>
          </a:xfrm>
          <a:prstGeom prst="rect">
            <a:avLst/>
          </a:prstGeom>
          <a:solidFill>
            <a:srgbClr val="0A1A2A"/>
          </a:solidFill>
          <a:ln w="12700">
            <a:solidFill>
              <a:srgbClr val="0D62A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3767328"/>
            <a:ext cx="54864" cy="9692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3840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895344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95344" y="4169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zero cloud exposure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3767328"/>
            <a:ext cx="2743200" cy="969264"/>
          </a:xfrm>
          <a:prstGeom prst="rect">
            <a:avLst/>
          </a:prstGeom>
          <a:solidFill>
            <a:srgbClr val="0A1A2A"/>
          </a:solidFill>
          <a:ln w="12700">
            <a:solidFill>
              <a:srgbClr val="0D62A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767328"/>
            <a:ext cx="54864" cy="9692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3840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21424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Defects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1424" y="4169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into COBOL Blackjack test corpus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773168"/>
            <a:ext cx="859536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79145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The foundation is sound and the approach is viable. The pipeline is not yet validated against a complex enterprise estate — that is the next step.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6016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 x  UBS  |  Mainframe Modernisation with AI Agents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Evaluate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open questions this experiment was designed to answer — each with a concrete verdict from the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" y="932688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932688"/>
            <a:ext cx="45720" cy="13898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56432" y="1024128"/>
            <a:ext cx="969264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02412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frontier models understand COBOL accurately — including anti-patterns, dead code, and embedded business logic?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read Blackjack cold, identified all 9 deliberate defects, explained business logic with solid accuracy. Attempts to confuse with orphaned code and contradictory comments did not succeed.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82896" y="932688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82896" y="932688"/>
            <a:ext cx="45720" cy="13898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024128"/>
            <a:ext cx="969264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102412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912" y="10058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GitLab integration work natively — agents posting comments, updating issues, and managing delivery without copy-paste?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10912" y="1444752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48132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posted review comments directly on GitLab user stories from their own role's perspective. Shifu pulled live project state and generated sprint reports in real time. Zero friction.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" y="2404872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" y="2404872"/>
            <a:ext cx="45720" cy="13898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2496312"/>
            <a:ext cx="969264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49631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4780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pipeline handle mid-sprint scope changes without losing delivery state or requiring a full restart?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916936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5351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betting and chip balance system was added mid-sprint. Shifu replanned, restructured the epic breakdown, and produced an updated plan without losing track of completed work.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82896" y="2404872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82896" y="2404872"/>
            <a:ext cx="45720" cy="13898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0144" y="2496312"/>
            <a:ext cx="969264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0144" y="249631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10912" y="24780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client-specific macro resolution work during structural analysis — or do unresolved macros break the output?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10912" y="2916936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95351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basic macro library, Po resolved macro references, incorporated context into semantic clustering, and flagged unresolved macros clearly. The pattern proved effective in practice.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" y="3877056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" y="3877056"/>
            <a:ext cx="45720" cy="13898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6432" y="3968496"/>
            <a:ext cx="969264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396849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9502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Group Mode — all 7 agents active simultaneously — genuinely useful for problem-solving, or is it noise?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256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Mode produced faster, richer diagnosis than any single agent: Po from structural context, Oogway from architecture, Shifu from delivery, dev agents from implementation, Mantis from QA. Distinct perspectives, one output.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82896" y="3877056"/>
            <a:ext cx="416966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82896" y="3877056"/>
            <a:ext cx="45720" cy="13898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0144" y="3968496"/>
            <a:ext cx="969264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0144" y="396849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10912" y="39502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analysis pipeline (Po) be used on a real enterprise COBOL estate — as-is — without further refinement?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10912" y="4389120"/>
            <a:ext cx="3931920" cy="182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44256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proves the concept is achievable. Before use on a real estate, analysis workflows need testing against more complex programs, validation by experienced COBOL analysts, and calibration against real macro libraries.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6336792"/>
            <a:ext cx="9144000" cy="29260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· Derived from conclusions in the Technical Addendum · Full findings on slide 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6355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Addendum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foundations — assembled from tools already licensed and operational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weeks, not months — no procurement, no new infrastructure, no new licences required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4114800" cy="347472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264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45536" y="1453896"/>
            <a:ext cx="1261872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4538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2064" y="179222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agentic methodology covering the full SDLC — product management, architecture, development, QA, and delivery. Each agent is a slash command in the IDE with its own menus, workflows, and human review gates. We extended BMAD for mainframe modernisation: adapting personas, tools, and workflows for COBOL delivery specifically.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24688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github.com/bmad-agile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89888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4264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Mode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3216" y="1453896"/>
            <a:ext cx="1261872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14538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MCP Platform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09744" y="179222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Copilot's agentic platform defines custom agents and connects MCP servers with minimal friction. We used this to build all five MCP servers — COBOL parsing, the spec layer, Delta macro resolution, JCL parsing, and GitLab integration — each one a focused capability callable by any agent in the squad.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9744" y="24688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github.com/kamalkantsingh10/modernisation_agents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81635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16352"/>
            <a:ext cx="4114800" cy="347472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852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45536" y="2880360"/>
            <a:ext cx="1261872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28803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Audit Layer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064" y="3218688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modernisation stage tracked natively in GitLab — epics, issues, sprint milestones, review gates, and a live status dashboard, all updated automatically by agents. No separate project management tool. Approvals happen directly in GitLab, producing the audit trail a regulated environment requires.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" y="38953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gitlab.com / self-hosted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81635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816352"/>
            <a:ext cx="4114800" cy="347472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852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– Bankdata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43216" y="2880360"/>
            <a:ext cx="1261872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61504" y="288036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Methodology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09744" y="3218688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and Bankdata published an open-source COBOL modernisation framework. We reverse engineered the analysis workflow — structural analysis, dependency mapping, business rule extraction — then built our own implementation on top of the BMAD + GitHub Copilot stack.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9744" y="38953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github.com/microsoft/cobol-modernization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6336792"/>
            <a:ext cx="9144000" cy="29260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 · All components already licensed at UBS · Zero additional procurement required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6355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Addendum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Squad + MCP Servers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as GitHub Copilot slash commands · 5 local MCP servers · all data stays on-device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communicate directly — the SQLite spec layer is the shared message bus between all agents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" y="1225296"/>
            <a:ext cx="5102352" cy="237744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435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33856" y="1243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243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" y="1481328"/>
            <a:ext cx="51023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1481328"/>
            <a:ext cx="45720" cy="3566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56362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856" y="156362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ANALYSIS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03120" y="1527048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structure · call graph · complexity · anti-patterns · COPY/CICS/DB2/Delta macro resolution · semantic clusters · business rules → spec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1865376"/>
            <a:ext cx="5102352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1865376"/>
            <a:ext cx="45720" cy="35661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4767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194767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03120" y="191109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spec layer · generate target architecture · identify subsystem boundaries · scope to Java / Python / COBOL · check readiness before code gen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" y="2249424"/>
            <a:ext cx="51023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2249424"/>
            <a:ext cx="45720" cy="356616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3317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" y="23317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03120" y="2295144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GitLab project · create milestones · manage issue board · post progress comments · update README dashboard · run sprint planning &amp; retros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" y="2633472"/>
            <a:ext cx="5102352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" y="2633472"/>
            <a:ext cx="45720" cy="3566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71576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" y="27157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GEN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103120" y="2679192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Java from spec layer + architecture · implement user stories · run code review before QA handoff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" y="3017520"/>
            <a:ext cx="51023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" y="3017520"/>
            <a:ext cx="45720" cy="356616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09981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3856" y="309981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MODERNISATION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03120" y="3063240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COBOL in-place · restructuring · dead code removal · anti-pattern remediation · generate modernised COBOL where full migration is not the target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" y="3401568"/>
            <a:ext cx="5102352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" y="3401568"/>
            <a:ext cx="45720" cy="356616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4838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3856" y="34838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GEN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103120" y="3447288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 from spec layer + architecture · implement user stories · run code review before QA handoff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" y="3785616"/>
            <a:ext cx="51023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" y="3785616"/>
            <a:ext cx="45720" cy="3566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38679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3856" y="386791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VALIDATION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103120" y="383133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generated code vs spec layer business rules · coverage report (confirmed / partial / missing) · formally close GitLab epics on QA completion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" y="4169664"/>
            <a:ext cx="5102352" cy="3474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418795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GROUP MODE — All 7 agents active simultaneously. Used for production incidents, cross-domain design decisions, and unblocking sessions. Each agent reasons from its own domain. One conversation, one structured output.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77840" y="1225296"/>
            <a:ext cx="3273552" cy="23774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12435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—  5 LOCAL PYTHON SERVERS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77840" y="1481328"/>
            <a:ext cx="327355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77840" y="1481328"/>
            <a:ext cx="4572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cobol-parser-mcp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54112" y="1536192"/>
            <a:ext cx="1005840" cy="182880"/>
          </a:xfrm>
          <a:prstGeom prst="rect">
            <a:avLst/>
          </a:prstGeom>
          <a:solidFill>
            <a:srgbClr val="D6E8F7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54112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687568" y="1737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parse_module · extract_call_graph · score_complexity · detect_antipatterns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77840" y="1993392"/>
            <a:ext cx="327355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77840" y="1993392"/>
            <a:ext cx="45720" cy="46634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048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specdb-mcp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754112" y="2048256"/>
            <a:ext cx="1005840" cy="182880"/>
          </a:xfrm>
          <a:prstGeom prst="rect">
            <a:avLst/>
          </a:prstGeom>
          <a:solidFill>
            <a:srgbClr val="D6E8F7"/>
          </a:solidFill>
          <a:ln w="6350">
            <a:solidFill>
              <a:srgbClr val="0D62A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4112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Spec Layer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687568" y="2249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init_schema · read_spec · write_spec · query_spec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577840" y="2505456"/>
            <a:ext cx="327355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577840" y="2505456"/>
            <a:ext cx="45720" cy="466344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2560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delta-macros-mcp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754112" y="2560320"/>
            <a:ext cx="1005840" cy="182880"/>
          </a:xfrm>
          <a:prstGeom prst="rect">
            <a:avLst/>
          </a:prstGeom>
          <a:solidFill>
            <a:srgbClr val="D6E8F7"/>
          </a:solidFill>
          <a:ln w="6350">
            <a:solidFill>
              <a:srgbClr val="3D4F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54112" y="2560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Knowledge Base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87568" y="2761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get_macro · search_macros · list_categories · add_macro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577840" y="3017520"/>
            <a:ext cx="327355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577840" y="3017520"/>
            <a:ext cx="45720" cy="466344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87568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4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jcl-parser-mcp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754112" y="3072384"/>
            <a:ext cx="1005840" cy="182880"/>
          </a:xfrm>
          <a:prstGeom prst="rect">
            <a:avLst/>
          </a:prstGeom>
          <a:solidFill>
            <a:srgbClr val="D6E8F7"/>
          </a:solidFill>
          <a:ln w="6350">
            <a:solidFill>
              <a:srgbClr val="094A7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54112" y="30723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Parser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87568" y="3273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parse_jcl · extract_job_graph · list_datasets · get_job_steps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577840" y="3529584"/>
            <a:ext cx="327355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50800" dist="25400" dir="2700000">
              <a:srgbClr val="BBCAD8">
                <a:alpha val="2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577840" y="3529584"/>
            <a:ext cx="4572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87568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gitlab-mcp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754112" y="3584448"/>
            <a:ext cx="1005840" cy="182880"/>
          </a:xfrm>
          <a:prstGeom prst="rect">
            <a:avLst/>
          </a:prstGeom>
          <a:solidFill>
            <a:srgbClr val="D6E8F7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5411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Integration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87568" y="37856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create_epic · create_issue · apply_label · create_milestone · add_comment · update_readme · close_epic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577840" y="4096512"/>
            <a:ext cx="3273552" cy="530352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87568" y="414223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specdb-mcp is the message bus. Po writes to it. Oogway, Tigress, Viper, Monkey, and Mantis read from it. Agents never talk to each other directly — the spec layer carries the context across the entire pipeline.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0" y="6336792"/>
            <a:ext cx="9144000" cy="29260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Squad · MCP Servers · All source stays on-device · No cloud exposure · gitlab-mcp + Shifu deployable independently on day 1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66560" y="6355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Addendum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Program — COBOL Blackjack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COBOL application designed to be genuinely messy — representative of real production legacy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COBOL estates cannot be shared publicly. Blackjack gives us a verifiable corpus: if the migrated game plays correctly, the pipeline worked.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" y="1389888"/>
            <a:ext cx="2743200" cy="1261872"/>
          </a:xfrm>
          <a:prstGeom prst="rect">
            <a:avLst/>
          </a:prstGeom>
          <a:solidFill>
            <a:srgbClr val="D6E8F7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Blackjack?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universal — correctness is easy to confirm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Multi-module with copybooks, anti-patterns, embedded business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messy — not academically clean like public samples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read, run, and verify the 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2651760"/>
            <a:ext cx="2743200" cy="27432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67004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github.com/kamalkantsingh10/cobol-blackjack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36976" y="1389888"/>
            <a:ext cx="5577840" cy="1536192"/>
          </a:xfrm>
          <a:prstGeom prst="rect">
            <a:avLst/>
          </a:prstGeom>
          <a:solidFill>
            <a:srgbClr val="EDF0F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389888"/>
            <a:ext cx="5577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Blackjack game running in terminal · Po analysis output]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" y="2816352"/>
            <a:ext cx="8485632" cy="237744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34640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DELIBERATE DEFECTS — Each independently verifiable, each representing real legacy anti-patterns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" y="3054096"/>
            <a:ext cx="8485632" cy="21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3054096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309067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3099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shuffle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33472" y="3099816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3099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BJACK-DECK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95344" y="309981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generator always returns 7 — identical deck every run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" y="3284525"/>
            <a:ext cx="8485632" cy="212141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3284525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" y="3321101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32110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33024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paragraph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33472" y="3330245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330245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BJACK-DECK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95344" y="333024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'DECK REBALANCE SUBROUTINE' after GOBACK — has never executed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" y="3514954"/>
            <a:ext cx="8485632" cy="21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3514954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" y="3551530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355153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356067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in deal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33472" y="3560674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356067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BJACK-DEAL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5344" y="356067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card stored before count increments — silently overwrites last card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" y="3745382"/>
            <a:ext cx="8485632" cy="212141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" y="3745382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" y="3781958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378195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" y="379110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recalculation fail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33472" y="3791102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33472" y="379110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BJACK-SCORE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895344" y="379110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Aces scores 12 instead of 2 — adjust loop reduces only the first Ace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9184" y="3975811"/>
            <a:ext cx="8485632" cy="21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" y="3975811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" y="4012387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01238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" y="402153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17 rule violation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33472" y="4021531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33472" y="402153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BJACK-DEALER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95344" y="4021531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does not hit on soft 17 — deviates from standard casino rules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9184" y="4206240"/>
            <a:ext cx="8485632" cy="212141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184" y="4206240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" y="4242816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76656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633472" y="4251960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33472" y="4251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BJACK-MAIN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95344" y="42519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non-S/D input triggers a hit — garbage, spaces, empty all draw a card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9184" y="4436669"/>
            <a:ext cx="8485632" cy="21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" y="4436669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" y="4473245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" y="447324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6656" y="4482389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rounding error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633472" y="4482389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33472" y="4482389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BJACK-MAIN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895344" y="4482389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pays 3:2 via integer division — bet of 5 returns 7 not 7.5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9184" y="4667098"/>
            <a:ext cx="8485632" cy="212141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9184" y="4667098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" y="4703674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" y="4703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76656" y="471281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Double-down anytime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633472" y="4712818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33472" y="471281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BJACK-MAIN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95344" y="471281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Double-down offered on every action, not just initial two-card hand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29184" y="4897526"/>
            <a:ext cx="8485632" cy="212141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" y="4897526"/>
            <a:ext cx="45720" cy="21214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0624" y="493410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0624" y="493410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76656" y="494324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over balance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633472" y="4943246"/>
            <a:ext cx="1188720" cy="182880"/>
          </a:xfrm>
          <a:prstGeom prst="rect">
            <a:avLst/>
          </a:prstGeom>
          <a:solidFill>
            <a:srgbClr val="EDF0F4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33472" y="494324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6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BJACK-MAIN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895344" y="494324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check uses a variable frozen at session start — overspending allowed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9184" y="5182819"/>
            <a:ext cx="8485632" cy="27432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" y="5201107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also seeded:  Orphaned features (split/insurance/five-card Charlie)  ·  Ghost variables  ·  No-op patch statements  ·  Contradictory version headers  ·  6 comments in French &amp; German (1987–89 contract teams)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0" y="6336792"/>
            <a:ext cx="9144000" cy="29260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432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Blackjack · github.com/kamalkantsingh10/cobol-blackjack · 8 source modules · 3 copybooks · 9 deliberate defects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766560" y="6355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Addendum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91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Watchouts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 validated — and what still needs to be proven at enterprise scale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" y="1005840"/>
            <a:ext cx="420624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HIGHLIGHTS  —  What Worked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" y="140817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408176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53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easily extensible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defined in markdown files. Adding capability means adding files — no code changes, no redeployment. BMAD agent-builder scaffolds new agents from plain English. Adding formatted Word doc output to Shifu took under two hours.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" y="2066544"/>
            <a:ext cx="4206240" cy="621792"/>
          </a:xfrm>
          <a:prstGeom prst="rect">
            <a:avLst/>
          </a:prstGeom>
          <a:solidFill>
            <a:srgbClr val="D4EDDA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2066544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122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macro resolution worked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304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basic macro library, Po resolved macro references during structural analysis, incorporated context into semantic clustering, and flagged unresolved macros clearly for the analyst.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" y="272491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2724912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0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 capable COBOL engineers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tested against the Blackjack corpus — reading COBOL cold, identifying defects, explaining business logic. Solid accuracy. Attempts to confuse with orphaned code and contradictory comments did not succeed.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9184" y="3383280"/>
            <a:ext cx="4206240" cy="621792"/>
          </a:xfrm>
          <a:prstGeom prst="rect">
            <a:avLst/>
          </a:prstGeom>
          <a:solidFill>
            <a:srgbClr val="D4EDDA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383280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29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replanning works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full betting and chip balance system mid-sprint: Shifu replanned, restructured the epic breakdown, produced an updated plan without losing track of what was done. Handles real engagement conditions.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" y="404164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4041648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873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Mode is effective for problem solving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active simultaneously: Po from structural context, Oogway from architecture, Shifu from delivery, dev agents from implementation, Mantis from QA. Faster, richer diagnosis than any single agent alone.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" y="4700016"/>
            <a:ext cx="4206240" cy="621792"/>
          </a:xfrm>
          <a:prstGeom prst="rect">
            <a:avLst/>
          </a:prstGeom>
          <a:solidFill>
            <a:srgbClr val="D4EDDA"/>
          </a:solidFill>
          <a:ln w="6350">
            <a:solidFill>
              <a:srgbClr val="1A6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" y="4700016"/>
            <a:ext cx="4572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457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integration worked flawlessly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posted review comments directly on GitLab user stories from their own role's perspective. Shifu pulled live project state, generated sprint reports, answered delivery status questions in real time.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01184" y="1005840"/>
            <a:ext cx="420624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WATCHOUTS  —  What Still Needs Proving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01184" y="1408176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1408176"/>
            <a:ext cx="4572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4630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application is simple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1664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is a deliberately small, contained codebase. Real COBOL estates are orders of magnitude larger — deeply nested batch structures, decades of patches, hundreds of interacting modules. Enterprise-scale validation is the next step.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01184" y="2176272"/>
            <a:ext cx="4206240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01184" y="2176272"/>
            <a:ext cx="4572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 needs client-specific inputs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0" y="24323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 not a black-box tool. Before use on a real estate, it must be configured with the client's macro library, business glossary, and naming conventions. Output quality is directly proportional to input quality.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01184" y="2944368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2944368"/>
            <a:ext cx="4572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999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 is a practical requirement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tested with a less capable model, quality of business rule extraction, semantic clustering, and code generation degraded noticeably. Claude Sonnet 4.6 or equivalent is required — not optional. Factor this into cost planning.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01184" y="3712464"/>
            <a:ext cx="4206240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3712464"/>
            <a:ext cx="4572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767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is high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executes multi-step workflows and maintains context across full sessions. Group Mode compounds this significantly — running all agents simultaneously is token-intensive. Model token cost is a material budget line at volume.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01184" y="4480560"/>
            <a:ext cx="4206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01184" y="4480560"/>
            <a:ext cx="4572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45354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analysis needs further refinement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0" y="4736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was built to prove the concept is achievable — and it does. Before use on a real estate, analysis workflows need testing against more complex programs, validation by experienced COBOL analysts, and calibration against real macro libraries.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6336792"/>
            <a:ext cx="9144000" cy="29260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6355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Watchouts · Proof-of-concept validated · Enterprise-scale validation is the next step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6355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Addendum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Mainframe Modernisation — Technical Addendum</dc:title>
  <dc:subject>PptxGenJS Presentation</dc:subject>
  <dc:creator>PptxGenJS</dc:creator>
  <cp:lastModifiedBy>PptxGenJS</cp:lastModifiedBy>
  <cp:revision>1</cp:revision>
  <dcterms:created xsi:type="dcterms:W3CDTF">2026-03-09T11:51:33Z</dcterms:created>
  <dcterms:modified xsi:type="dcterms:W3CDTF">2026-03-09T11:51:33Z</dcterms:modified>
</cp:coreProperties>
</file>