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94A7C"/>
          </a:solidFill>
          <a:ln w="12700">
            <a:solidFill>
              <a:srgbClr val="094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0" y="0"/>
            <a:ext cx="9144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Agents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Approach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64992"/>
            <a:ext cx="329184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procurement. No new tooling. Start next week.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548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at a glance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18288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698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00600" y="1618488"/>
            <a:ext cx="1645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commerce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COBOL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96012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20840" y="960120"/>
            <a:ext cx="182880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10698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12280" y="1618488"/>
            <a:ext cx="1645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 budgets spent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legacy maintenance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697480"/>
            <a:ext cx="18288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8072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00600" y="3355848"/>
            <a:ext cx="1645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269748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697480"/>
            <a:ext cx="182880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8072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12280" y="3355848"/>
            <a:ext cx="1645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programmers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709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·  Mainframe Modernisation Programme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COBOL estate is real, urgent, and getting worse — and every tool on the market adds to the delay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97840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is not going away — and the people who understand it are.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993392" cy="1078992"/>
          </a:xfrm>
          <a:prstGeom prst="rect">
            <a:avLst/>
          </a:prstGeom>
          <a:solidFill>
            <a:srgbClr val="094A7C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80160"/>
            <a:ext cx="1993392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3716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trillion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" y="18013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daily commerce runs on COBOL systems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1280160"/>
            <a:ext cx="1993392" cy="107899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280160"/>
            <a:ext cx="1993392" cy="4572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3716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15184" y="18013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financial services IT budgets go on keeping legacy systems alive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280160"/>
            <a:ext cx="1993392" cy="1078992"/>
          </a:xfrm>
          <a:prstGeom prst="rect">
            <a:avLst/>
          </a:prstGeom>
          <a:solidFill>
            <a:srgbClr val="094A7C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280160"/>
            <a:ext cx="1993392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3716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 60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36592" y="18013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COBOL programmers — a third retire by 2030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9984" y="1280160"/>
            <a:ext cx="1993392" cy="107899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9984" y="1280160"/>
            <a:ext cx="1993392" cy="4572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3716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18013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modernisation projects fail using standard approaches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450592"/>
            <a:ext cx="841248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4688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DON'T HELP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2468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· AWS · Micro Focus · all the same story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779776"/>
            <a:ext cx="270662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779776"/>
            <a:ext cx="2706624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87121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2064" y="321868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wait 3–12 months before anything starts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" y="3648456"/>
            <a:ext cx="2414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on the market — IBM, AWS, Micro Focus — needs a procurement cycle first. In a regulated bank, vendor approval alone takes months. By the time you're approved, you haven't written a line yet.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" y="4517136"/>
            <a:ext cx="2414016" cy="201168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526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 wasted before day one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0" y="2779776"/>
            <a:ext cx="270662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779776"/>
            <a:ext cx="2706624" cy="5486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6704" y="287121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346704" y="321868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millions on setup, not delivery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46704" y="3648456"/>
            <a:ext cx="2414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modernisation programme runs $2M–$15M+. Most of that goes on licences, infrastructure, and getting the tool to work — not on actually modernising your code. The vendor sells you tooling. The work is still yours.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46704" y="4517136"/>
            <a:ext cx="2414016" cy="201168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4526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$2M–$15M+ and most of it is before the real work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2779776"/>
            <a:ext cx="270662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2779776"/>
            <a:ext cx="2706624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287121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181344" y="321868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stuck with their AI, not the best AI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81344" y="3648456"/>
            <a:ext cx="2414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runs on Mistral and IBM Granite — locked in. You can't swap the model. Claude Opus 4.6 scores 80.9% on real software engineering tasks vs these models' significantly lower numbers. You pay premium prices for yesterday's performance.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81344" y="4517136"/>
            <a:ext cx="2414016" cy="201168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526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model · can't upgrade · can't switch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IBM, MarketsAndMarkets, Deloitte, SoftwareModernizationServices.com, Anthropic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Already Have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procurement required — the technical prerequisites are already in place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 already licenses everything needed to begin modernisation this sprint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269748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00784"/>
            <a:ext cx="2423160" cy="256032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0992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LICENSED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models, continuously updated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market share · 20M users · 90% of Fortune 100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Business and Pro subscribers now have direct access to Claude Opus 4.6 and GPT-5.3-Codex — the same frontier models that IBM's platform cannot reach. Deprecated models are replaced within days.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572768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572768"/>
            <a:ext cx="269748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700784"/>
            <a:ext cx="2423160" cy="256032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70992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 Mode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3774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framework, already installed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67004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· builds · reviews · delegates across sessions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are defined via simple markdown files. MCP servers connect without any additional infrastructure. No new tool to learn — most developers are already using Copilot.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572768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572768"/>
            <a:ext cx="269748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700784"/>
            <a:ext cx="2423160" cy="256032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70992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DEPLOYED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3774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 platform, already deployed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67004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issue tracking · code review · audit trails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modernisation — analysis, architecture, development, QA — tracks natively in GitLab with zero additional tooling. Maps directly to regulated environment traceability requirements.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Assets · GitHub Copilot stats: secondtalent.com, github.blog, docs.github.com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repeatable mainframe modernisation factory — built on existing infrastructure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business rules, and audit artefacts are structural outputs of the pipeline — not a separate workstream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54864" cy="15727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This Sprint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3042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procurement cycle. No security review. No new infrastructure. The pipeline runs on tooling already licensed and deployed.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572768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572768"/>
            <a:ext cx="54864" cy="157276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 Coverage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23042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analysis · dependency mapping · business rule extraction · migration architecture · code generation · QA validation.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1572768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572768"/>
            <a:ext cx="54864" cy="157276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AI, Updated Continuously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3042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+ GPT-5.3-Codex via GitHub Copilot. Models refresh continuously — not locked to a vendor's fixed stack.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91840"/>
            <a:ext cx="54864" cy="15727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2064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 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" y="40233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analysed program is documented. Business rules in plain English, dependency maps, and a queryable spec layer — produced automatically.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18688" y="3291840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3291840"/>
            <a:ext cx="54864" cy="157276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64992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All Applications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64992" y="40233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engagement establishes the template. Every subsequent application in the estate follows the identical process without modification.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Runs on GitHub Copilot + GitLab + BMAD agentic methodology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Squad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purpose-built agents, each scoped to a single pipeline stage — together covering full COBOL modernisation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captured once in agent configuration — reused across every application in the estate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371600"/>
            <a:ext cx="8778240" cy="34015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864608"/>
            <a:ext cx="269748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8289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QA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8912" y="51389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Mantis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4864608"/>
            <a:ext cx="2697480" cy="256032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488289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Delivery · Code Gen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73552" y="51389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Oogway, Shifu, Tigress, Monkey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4864608"/>
            <a:ext cx="2697480" cy="256032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488289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· Outputs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08192" y="51389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stages log here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Squad · Named after Kung Fu Panda characters · 4 MCP servers: cobol-parser · specdb · delta-macros · gitlab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Human-orchestrated SDLC — every stage gate is a human review in GitLab before the pipeline advances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logs to GitLab. Every stage closes with human sign-off. Nothing moves without approval.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1005840"/>
            <a:ext cx="416052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15968" y="1344168"/>
            <a:ext cx="4480560" cy="237744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25696" y="1362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50408" y="13624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90488" y="1362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607808" y="1362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315968" y="1581912"/>
            <a:ext cx="4480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15968" y="1581912"/>
            <a:ext cx="45720" cy="356616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07408" y="1655064"/>
            <a:ext cx="219456" cy="219456"/>
          </a:xfrm>
          <a:prstGeom prst="ellipse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07408" y="1655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81728" y="16550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50408" y="165506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90488" y="163677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607808" y="163677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Owner + EA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315968" y="1965960"/>
            <a:ext cx="4480560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15968" y="1965960"/>
            <a:ext cx="45720" cy="356616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07408" y="2039112"/>
            <a:ext cx="219456" cy="219456"/>
          </a:xfrm>
          <a:prstGeom prst="ellipse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07408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81728" y="203911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50408" y="203911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190488" y="20208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 · Po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607808" y="202082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Tech Lead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315968" y="2350008"/>
            <a:ext cx="4480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15968" y="2350008"/>
            <a:ext cx="45720" cy="3566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07408" y="2423160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07408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81728" y="242316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550408" y="2423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190488" y="240487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Oogway · Shifu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607808" y="24048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Owner + EA + Domain Expert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315968" y="2734056"/>
            <a:ext cx="4480560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15968" y="2734056"/>
            <a:ext cx="45720" cy="356616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07408" y="2807208"/>
            <a:ext cx="219456" cy="219456"/>
          </a:xfrm>
          <a:prstGeom prst="ellipse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407408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681728" y="280720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550408" y="280720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wk/epic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190488" y="278892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Tigress · Viper · Monkey · Shifu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607808" y="278892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 + App Tech Lead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315968" y="3118104"/>
            <a:ext cx="4480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68" y="3118104"/>
            <a:ext cx="45720" cy="3566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407408" y="319125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407408" y="3191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681728" y="319125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550408" y="319125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190488" y="317296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 · Shifu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607808" y="317296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Owner + Tech Lead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315968" y="3502152"/>
            <a:ext cx="4480560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315968" y="3502152"/>
            <a:ext cx="45720" cy="356616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407408" y="3575304"/>
            <a:ext cx="219456" cy="219456"/>
          </a:xfrm>
          <a:prstGeom prst="ellipse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407408" y="3575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681728" y="357530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550408" y="357530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6190488" y="355701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7607808" y="355701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Owner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4315968" y="3886200"/>
            <a:ext cx="4480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315968" y="3886200"/>
            <a:ext cx="45720" cy="356616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407408" y="3959352"/>
            <a:ext cx="219456" cy="219456"/>
          </a:xfrm>
          <a:prstGeom prst="ellipse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407408" y="3959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4681728" y="395935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5550408" y="39593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6190488" y="39410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Mode (all 7)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7607808" y="394106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Incident Owner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4315968" y="4270248"/>
            <a:ext cx="4480560" cy="420624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407408" y="4297680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Same process, repeated identically for every application in the estate — the template is defined once, applied without modification to every subsequent program.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· All reviews and approvals handled natively in GitLab — no email chains, no separate tools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application delivery — 7 stages, parallel Dev epics, agent assignments per stage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duration: ~18 weeks for one application end-to-end · Factory model repeats from Stage 3 for each subsequent application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53312"/>
            <a:ext cx="8869680" cy="3547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956048"/>
            <a:ext cx="237744" cy="18288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9560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/ Plan / Code / Maintenance  (Infosys-led)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18688" y="4956048"/>
            <a:ext cx="237744" cy="182880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11296" y="49560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Production  (Shifu + App Owner)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71616" y="4956048"/>
            <a:ext cx="237744" cy="1828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49560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critical gate  (Mantis + App Owner sign-off)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· Indicative schedule — actual dates set at Inception · All approvals in GitLab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Governance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roles, no new headcount — agents work under human supervision at every stage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COBOL expert's role changes, not disappears — their institutional knowledge becomes a reusable input to the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27432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95144" y="1572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46704" y="15727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15384" y="15727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78624" y="15727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56232"/>
            <a:ext cx="36576" cy="3017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89280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04288" y="1892808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189280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24528" y="189280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all stage gates; holds final accountability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87768" y="18928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67128"/>
            <a:ext cx="8412480" cy="30175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167128"/>
            <a:ext cx="36576" cy="3017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2037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Tech Lead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04288" y="220370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2203704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24528" y="220370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approves dev epics and testing results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87768" y="220370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Dev · Testing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478024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478024"/>
            <a:ext cx="36576" cy="3017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51460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 Expert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04288" y="251460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55848" y="251460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Support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24528" y="251460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business context; validates extracted business rules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87768" y="25146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Dev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788920"/>
            <a:ext cx="8412480" cy="30175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2825496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04288" y="282549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55848" y="282549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24528" y="28254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engagement end-to-end; operates Shifu; manages GitLab sprints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87768" y="282549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099816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313639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Analyst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04288" y="3136392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55848" y="3136392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24528" y="31363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all Po workflows; reviews and corrects analysis output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87768" y="313639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Dev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410712"/>
            <a:ext cx="8412480" cy="30175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344728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04288" y="3447288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55848" y="344728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24528" y="344728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user stories from extracted business rules; manages epic backlog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87768" y="344728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721608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" y="375818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304288" y="375818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355848" y="3758184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24528" y="375818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refine, and own all generated code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87768" y="375818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032504"/>
            <a:ext cx="8412480" cy="30175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" y="40690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304288" y="406908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355848" y="406908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+ ✅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224528" y="406908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migration architecture; approves technical design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87768" y="40690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· Plan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4343400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" y="4379976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304288" y="437997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355848" y="437997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224528" y="437997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project governance, risk, budget, and stakeholder communication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287768" y="437997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4727448"/>
            <a:ext cx="8412480" cy="128016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7365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Infosys team: 3–5 annualised headcount for a ~700-module / 500,000 LOC application  ·  Red accent = Bank sign-off required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Governance · All approvals recorded natively in GitLab — full audit trail for regulated environments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Factory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— each delivers working output while establishing the capability for the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proves the pipeline. Stage 2 validates it end-to-end. Stage 3 scales it — at 2.5 HC per application per year.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377440" cy="2926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6 months · 6 HC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572768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7 months · 6 HC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572768"/>
            <a:ext cx="3291840" cy="292608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5727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Ongoing · scaled by volume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38528"/>
            <a:ext cx="274320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48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 of agent squad built and configured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aligned to org environment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epic completed on a real application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71246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validated against actual COBOL codebase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224528"/>
            <a:ext cx="246888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0D62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242816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Working pipeline + trained team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938528"/>
            <a:ext cx="2697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938528"/>
            <a:ext cx="269748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048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Application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23957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target application through complete pipeline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28346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epics, full testing, production monitoring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327355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v2 refined with real application patterns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71246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process proven end to 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4224528"/>
            <a:ext cx="2423160" cy="320040"/>
          </a:xfrm>
          <a:prstGeom prst="rect">
            <a:avLst/>
          </a:prstGeom>
          <a:solidFill>
            <a:srgbClr val="FAEAEA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4242816"/>
            <a:ext cx="2295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 app modernised + proven factory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1938528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1938528"/>
            <a:ext cx="2788920" cy="64008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048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Factory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23957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operation at 2.5 HC per application per annum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283464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analysis, development, QA, and delivery management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0" y="327355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run concurrently through the pipeline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26480" y="37124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identical for every subsequent application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4224528"/>
            <a:ext cx="2514600" cy="320040"/>
          </a:xfrm>
          <a:prstGeom prst="rect">
            <a:avLst/>
          </a:prstGeom>
          <a:solidFill>
            <a:srgbClr val="EDF0F4"/>
          </a:solidFill>
          <a:ln w="6350">
            <a:solidFill>
              <a:srgbClr val="3D4F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4242816"/>
            <a:ext cx="2386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2.5 HC per app/year steady state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Build · Pilot begins immediately on existing tooling — no procurement, no delay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&amp; Competitive Landscape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modernisation market is growing — and every existing tool has the same critical gaps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lost $31B in market cap in a single day when Anthropic announced COBOL capabilities — the market has already decided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011680" cy="93268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2011680" cy="5486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910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(2025)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536192"/>
            <a:ext cx="2011680" cy="93268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536192"/>
            <a:ext cx="2011680" cy="5486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5910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$13.3B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19751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536192"/>
            <a:ext cx="2011680" cy="93268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536192"/>
            <a:ext cx="2011680" cy="5486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5910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19751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536192"/>
            <a:ext cx="2011680" cy="93268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1536192"/>
            <a:ext cx="201168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5910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21424" y="19751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stock drop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Anthropic COBOL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606040"/>
            <a:ext cx="8412480" cy="27432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633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Approach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0" y="2633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34840" y="26334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58000" y="26334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Rules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562088" y="26334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0456" y="2633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2898648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2935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Code Assistant for Z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34840" y="2935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/ Granite (fixed)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0" y="29352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62088" y="2935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0456" y="2935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264408"/>
            <a:ext cx="8412480" cy="34747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300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Mainframe Modernisation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26080" y="3300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AWS-hosted (fixed)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0" y="33009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62088" y="33009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0456" y="33009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630168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3666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Focus / OpenText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0" y="3666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434840" y="3666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(fixed)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58000" y="3666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562088" y="3666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20456" y="3666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995928"/>
            <a:ext cx="8412480" cy="34747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" y="4032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Bankdata (open source)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926080" y="4032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req.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34840" y="4032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(fixed)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40325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562088" y="4032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220456" y="40325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4361688"/>
            <a:ext cx="8412480" cy="347472"/>
          </a:xfrm>
          <a:prstGeom prst="rect">
            <a:avLst/>
          </a:prstGeom>
          <a:solidFill>
            <a:srgbClr val="D6E8F7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4361688"/>
            <a:ext cx="54864" cy="347472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" y="4398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926080" y="4398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start next week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434840" y="4398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+ GPT-5.3-Codex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58000" y="43982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562088" y="4398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220456" y="4398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· MarketsAndMarkets, IBM, Deloitte, CNBC/Bloomberg, Anthropic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Mainframe Modernisation with AI Agents</dc:title>
  <dc:subject>PptxGenJS Presentation</dc:subject>
  <dc:creator>PptxGenJS</dc:creator>
  <cp:lastModifiedBy>PptxGenJS</cp:lastModifiedBy>
  <cp:revision>1</cp:revision>
  <dcterms:created xsi:type="dcterms:W3CDTF">2026-03-09T08:09:30Z</dcterms:created>
  <dcterms:modified xsi:type="dcterms:W3CDTF">2026-03-09T08:09:30Z</dcterms:modified>
</cp:coreProperties>
</file>