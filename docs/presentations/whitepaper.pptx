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Mainframe Modernisation
with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39C12"/>
                </a:solidFill>
              </a:rPr>
              <a:t>A Practical Approach — Powered by Tools You Already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88AA"/>
                </a:solidFill>
              </a:rPr>
              <a:t>Infosys  ·  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39C12"/>
                </a:solidFill>
              </a:rPr>
              <a:t>▸ COBOL estates consume 70–75% of IT budgets. 70% of modernisation projects fail with standard agile.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CCD6E0"/>
                </a:solidFill>
              </a:rPr>
              <a:t>▸ Existing AI tools require 3–12 months procurement before work begins — and leave implementation to the client.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39C12"/>
                </a:solidFill>
              </a:rPr>
              <a:t>▸ This proposal uses GitHub Copilot, GitLab and BMAD — already licensed. Zero new software. Work begins next sprint.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CCD6E0"/>
                </a:solidFill>
              </a:rPr>
              <a:t>▸ 3-stage engagement: 6-month pilot → 7-month full application → ongoing factory at 2.5 HC per app/year.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9C12"/>
                </a:solidFill>
              </a:rPr>
              <a:t>Why existing tools don't work for a regulated bank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F39C12"/>
                </a:solidFill>
              </a:rPr>
              <a:t>▸ Months before work begins — vendor approval in regulated IT takes 3–12 months before technical setup even starts.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39C12"/>
                </a:solidFill>
              </a:rPr>
              <a:t>▸ $2M–$15M+ absorbed by licensing, server infrastructure, and LLM hosting — before delivery begins.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CCD6E0"/>
                </a:solidFill>
              </a:rPr>
              <a:t>▸ Locked to yesterday's models — IBM WCA for Z runs Mistral / Granite (fixed). Cannot access frontier models without rebuilding infrastructure.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CCD6E0"/>
                </a:solidFill>
              </a:rPr>
              <a:t>▸ Products deliver tooling, not outcomes — end-to-end implementation left entirely to the client.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CCD6E0"/>
                </a:solidFill>
              </a:rPr>
              <a:t>▸ 70% of projects fail — standard agile assumes you understand what you're building. COBOL breaks that assumption.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You Already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9C12"/>
                </a:solidFill>
              </a:rPr>
              <a:t>The tools for this solution are already licensed and running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11480"/>
          </a:xfrm>
          <a:prstGeom prst="rect">
            <a:avLst/>
          </a:prstGeom>
          <a:solidFill>
            <a:srgbClr val="3BA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GitHub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5661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42% market share · 20M users · 90% of Fortune 100
Claude Opus 4.6 + GPT-5.3-Codex available today
Models refreshed continuously — deprecated within days, not years
No additional cost to any licensed 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188720"/>
            <a:ext cx="3749039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20700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GitHub Copilot Agent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1691640"/>
            <a:ext cx="35661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Full agentic framework — plans, builds, reviews, delegates
Custom agents via markdown files
MCP servers connect without additional infrastructure
Developers already using it — zero learning curve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749039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20700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</a:rPr>
              <a:t>GitLab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35661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End-to-end software lifecycle platform
Native AI: CI/CD, issue generation, test creation, code review
Maps directly to audit and traceability requirements
Every pipeline stage tracks in GitLab — zero additional tooling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Solution — A Mainframe Modernisation Factory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F39C12"/>
                </a:solidFill>
              </a:rPr>
              <a:t>▸ Zero procurement — built on GitHub Copilot, GitLab, and BMAD. Technical prerequisites already in place. Work begins this sprint.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CCD6E0"/>
                </a:solidFill>
              </a:rPr>
              <a:t>▸ Complete SDLC — structural analysis → dependency mapping → business rule extraction → architecture → code generation → QA.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39C12"/>
                </a:solidFill>
              </a:rPr>
              <a:t>▸ Frontier AI — Claude Opus 4.6 + GPT-5.3-Codex via GitHub Copilot, refreshed continuously. Customised to org-specific macros and glossary.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CCD6E0"/>
                </a:solidFill>
              </a:rPr>
              <a:t>▸ Documentation by design — every workflow produces business rules, dependency maps, and a queryable spec layer as direct output.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CCD6E0"/>
                </a:solidFill>
              </a:rPr>
              <a:t>▸ Maintenance-ready — analysis workflows apply to impact assessment, developer onboarding, and pre-release verification.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CCD6E0"/>
                </a:solidFill>
              </a:rPr>
              <a:t>▸ Tool agnostic — compatible with any MCP-supported coding assistant. Not locked to any single model or provider.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It Works — Three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593119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CCD6E0"/>
                </a:solidFill>
              </a:rPr>
              <a:t>▸ Agents execute — specialised AI for each stage: analysis, architecture, delivery, code generation, QA.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CCD6E0"/>
                </a:solidFill>
              </a:rPr>
              <a:t>▸ Process governs — every stage is a defined workflow with explicit inputs, outputs, and a GitLab review gate.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39C12"/>
                </a:solidFill>
              </a:rPr>
              <a:t>▸ People decide — analyst, architect, domain expert, tech lead and developers approve every output before it moves downstream.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CCD6E0"/>
                </a:solidFill>
              </a:rPr>
              <a:t>▸ Spec layer (SQLite) is the shared backbone — the only shared state between agents. No direct agent-to-agent communication.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Agent Squad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9C12"/>
                </a:solidFill>
              </a:rPr>
              <a:t>Each agent has one role. Every action is logged to GitLab.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2624471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123444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F39C12"/>
                </a:solidFill>
              </a:rPr>
              <a:t>▸ Po  </a:t>
            </a:r>
            <a:r>
              <a:rPr sz="1200">
                <a:solidFill>
                  <a:srgbClr val="CCD6E0"/>
                </a:solidFill>
              </a:rPr>
              <a:t>COBOL analysis: structure, dependencies, business rules → spec layer. Most critical agent. Standalone-capable.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3BAAD9"/>
                </a:solidFill>
              </a:rPr>
              <a:t>▸ Oogway  </a:t>
            </a:r>
            <a:r>
              <a:rPr sz="1200">
                <a:solidFill>
                  <a:srgbClr val="CCD6E0"/>
                </a:solidFill>
              </a:rPr>
              <a:t>Migration architect — reads spec layer, produces target architecture and migration sequence.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3BAAD9"/>
                </a:solidFill>
              </a:rPr>
              <a:t>▸ Shifu  </a:t>
            </a:r>
            <a:r>
              <a:rPr sz="1200">
                <a:solidFill>
                  <a:srgbClr val="CCD6E0"/>
                </a:solidFill>
              </a:rPr>
              <a:t>Delivery manager — GitLab project, sprints, milestones, live dashboard.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3BAAD9"/>
                </a:solidFill>
              </a:rPr>
              <a:t>▸ Tigress / Viper / Monkey  </a:t>
            </a:r>
            <a:r>
              <a:rPr sz="1200">
                <a:solidFill>
                  <a:srgbClr val="CCD6E0"/>
                </a:solidFill>
              </a:rPr>
              <a:t>Code generation — Java, COBOL refactor, Python. Target language set by Oogway.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3BAAD9"/>
                </a:solidFill>
              </a:rPr>
              <a:t>▸ Mantis  </a:t>
            </a:r>
            <a:r>
              <a:rPr sz="1200">
                <a:solidFill>
                  <a:srgbClr val="CCD6E0"/>
                </a:solidFill>
              </a:rPr>
              <a:t>QA validation — generated code vs spec layer business rules. Manages GitLab epic sign-off.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F39C12"/>
                </a:solidFill>
              </a:rPr>
              <a:t>▸ Group Mode  </a:t>
            </a:r>
            <a:r>
              <a:rPr sz="1200">
                <a:solidFill>
                  <a:srgbClr val="CCD6E0"/>
                </a:solidFill>
              </a:rPr>
              <a:t>All agents active simultaneously — for production incidents, critical decisions, or unblocking sessions.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9C12"/>
                </a:solidFill>
              </a:rPr>
              <a:t>Every review gate is handled directly in GitLab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1133010" cy="3200400"/>
          </a:xfrm>
          <a:prstGeom prst="rect">
            <a:avLst/>
          </a:prstGeom>
        </p:spPr>
      </p:pic>
      <p:pic>
        <p:nvPicPr>
          <p:cNvPr id="7" name="Picture 6" descr="diagram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7379746" cy="3200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4434840"/>
          <a:ext cx="11795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  <a:gridCol w="3931920"/>
              </a:tblGrid>
              <a:tr h="2857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39C12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39C12"/>
                          </a:solidFill>
                        </a:rPr>
                        <a:t>Sign-off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39C12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Inception (2w)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App Owner + Architect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Project brief, tech stack, success criteria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Setup (1w)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Technical Lead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Agent config, GitLab init, spec layer setup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Plan (2w)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App Owner + Architect + Domain Expert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PRD, epics, architecture, testing strategy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Dev (~1w/epic)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BA + App Team Tech Lead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Business rules → user stories → code. Parallel epics.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Testing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App Owner + App Team Tech Lead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Mantis validation + UAT. Behaviour must match or deviation documented.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Production (1m)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App Owner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Monitored against Inception success criteria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Maintenance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Incident Owner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CD6E0"/>
                          </a:solidFill>
                        </a:rPr>
                        <a:t>Group Mode or targeted agents. Same GitLab-tracked pattern.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9C12"/>
                </a:solidFill>
              </a:rPr>
              <a:t>Agents execute. People decide. No new headcount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88720"/>
          <a:ext cx="117957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9C12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9C12"/>
                          </a:solidFill>
                        </a:rPr>
                        <a:t>By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9C12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9C12"/>
                          </a:solidFill>
                        </a:rPr>
                        <a:t>Responsibility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9C12"/>
                          </a:solidFill>
                        </a:rPr>
                        <a:t>Stages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App Owner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🏦 Bank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✅ Approve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Final accountability · all sign-offs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App Team Tech Lead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🏦 Bank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✅ Approve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Technical quality gate · dev + test sign-off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Setup, Dev, Testing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Business Domain Expert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🏦 Bank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🤝 Support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Business context · validates extracted business rules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Plan, Dev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Delivery Lead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🔵 Infosys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⚙️ Execute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Runs engagement · operates Shifu · GitLab sprints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COBOL Analyst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🔵 Infosys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⚙️ Execute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Drives Po workflows · reviews analysis output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Setup, Dev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Business Analyst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🔵 Infosys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⚙️ Execute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User stories from business rules · epic backlog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Dev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Developers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🔵 Infosys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⚙️ Execute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Review, refine, and own all generated code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Dev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Enterprise Architect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🔵 Infosys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⚙️ Execute + ✅ Approve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Produces + approves migration architecture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Inception, Plan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Project Manager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🔵 Infosys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⚙️ Execute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Governance · risk · budget · stakeholder comms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For ~700 modules / 500,000 LOC: estimated 3–5 annualised Infosys HC for full engagement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Building the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9C12"/>
                </a:solidFill>
              </a:rPr>
              <a:t>Incrementally — each stage delivers output and builds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7315200" cy="160486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1371600"/>
            <a:ext cx="54864" cy="1280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71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Stage 1 —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75564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AAD9"/>
                </a:solidFill>
              </a:rPr>
              <a:t>6 months · 6 HC (3 EU + 3 India)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08483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</a:rPr>
              <a:t>Build agent v1 · align process · prove pipeline on one epic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017520"/>
            <a:ext cx="54864" cy="1280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0175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Stage 2 — First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4015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AAD9"/>
                </a:solidFill>
              </a:rPr>
              <a:t>7 months · 6 HC (same team)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73075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</a:rPr>
              <a:t>Full application modernised · agent v2 refined from real-world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663440"/>
            <a:ext cx="54864" cy="1280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6634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Stage 3 — Factory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0474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AAD9"/>
                </a:solidFill>
              </a:rPr>
              <a:t>Ongoing · 2.5 HC per app/year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37667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</a:rPr>
              <a:t>Repeatable at scale · team sized by annual application throughput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Appendix A — Market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4480560" cy="3200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188720"/>
          <a:ext cx="60350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589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9C12"/>
                          </a:solidFill>
                        </a:rPr>
                        <a:t>Statistic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9C12"/>
                          </a:solidFill>
                        </a:rPr>
                        <a:t>Figure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Market size 2025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$8.4B (mainframe modernisation)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Projected 2030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$13.3B  ·  CAGR 9.7%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Daily commerce on COBOL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$3 trillion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Avg COBOL programmer age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~60 years · one-third retiring by 2030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IT budget on legacy maintenance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70–75% (financial services)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Project failure rate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70% with standard agile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IBM stock drop (Feb 2026)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–13% in one day on Anthropic COBOL announcement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IBM market cap lost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$31 billion in one day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Appendix B — Competitive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280160"/>
          <a:ext cx="117957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853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Procurement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AI Model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Business Rules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Structured IR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End-to-End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IBM WCA for Z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Months + licensing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Mistral / Granite (fixed)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AWS Mainframe Mod.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Months + cloud setup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AWS-hosted (fixed)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Micro Focus / OpenText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Months + licensing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Proprietary (fixed)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Microsoft / Bankdata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Setup required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Open source (fixed)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This proposal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Zero — start next sprint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Claude Opus 4.6 + GPT-5.3-Codex (live)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Appendix C — Security &amp; Data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9C12"/>
                </a:solidFill>
              </a:rPr>
              <a:t>Designed local-first for regulated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3862506" cy="3200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0" y="1280160"/>
          <a:ext cx="6492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8534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9C12"/>
                          </a:solidFill>
                        </a:rPr>
                        <a:t>Principle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9C12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Source code stays local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All MCP servers run locally via STDIO — no source transmitted externally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Spec layer stays local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SQLite on local machine · configurable path · gitignored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LLM context is scoped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Only the specific paragraph cluster under analysis — no full program dumps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GitLab receives metadata only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Stage labels, status comments, summaries — not raw COBOL source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Credentials via env vars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CD6E0"/>
                          </a:solidFill>
                        </a:rPr>
                        <a:t>GITLAB_TOKEN in environment — never written to config files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Appendix D — Agent Capabilities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24315554" cy="53035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280160"/>
          <a:ext cx="55778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  <a:gridCol w="929640"/>
                <a:gridCol w="929640"/>
                <a:gridCol w="929640"/>
              </a:tblGrid>
              <a:tr h="5791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cobol-parser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specdb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delta-macros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jcl-parser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9C12"/>
                          </a:solidFill>
                        </a:rPr>
                        <a:t>gitlab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Po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Oogway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Shifu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Tigress / Viper / Monkey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42C4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Mantis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CD6E0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0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