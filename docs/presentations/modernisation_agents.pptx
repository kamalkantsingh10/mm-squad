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94A7C"/>
          </a:solidFill>
          <a:ln w="12700">
            <a:solidFill>
              <a:srgbClr val="094A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0" y="0"/>
            <a:ext cx="9144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Agents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Approach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364992"/>
            <a:ext cx="329184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procurement. No new tooling. Start next week.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548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at a glance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18288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698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$3T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800600" y="1618488"/>
            <a:ext cx="1645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commerce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COBOL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96012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20840" y="960120"/>
            <a:ext cx="182880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0568" y="10698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12280" y="1618488"/>
            <a:ext cx="1645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 budgets spent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legacy maintenance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697480"/>
            <a:ext cx="18288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28072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00600" y="3355848"/>
            <a:ext cx="1645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2697480"/>
            <a:ext cx="1828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2697480"/>
            <a:ext cx="182880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280720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12280" y="3355848"/>
            <a:ext cx="1645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programmers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709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·  Mainframe Modernisation Programme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approaches are failing — and why doing nothing is no longer viable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estates will not modernise themselves — and every existing tool makes the problem worse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2697480" cy="3017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54480"/>
            <a:ext cx="269748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blocks progress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dedicated modernisation tool — IBM watsonx, AWS, Micro Focus — requires 3–12 months of vendor approval before a single line of work begins. In regulated IT departments, this delay alone kills momentum.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886200"/>
            <a:ext cx="2423160" cy="4572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9776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42976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vendor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cycle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554480"/>
            <a:ext cx="2697480" cy="3017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554480"/>
            <a:ext cx="269748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029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dwarf the actual delivery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3957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million-line COBOL codebase costs $1.5M–$4M and 18–36 months using traditional approaches. Full programmes run $2M–$15M+, with the majority absorbed by setup before delivery begins.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3886200"/>
            <a:ext cx="2423160" cy="4572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9776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$15M+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37560" y="42976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ceiling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1554480"/>
            <a:ext cx="2697480" cy="3017520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554480"/>
            <a:ext cx="269748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172200" y="20299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yesterday's models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2395728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runs on Mistral and IBM Granite — models that trail the frontier significantly. Claude Opus 4.6 scores 80.9% on SWE-bench Verified. Proprietary platforms cannot substitute the underlying model without rebuilding their infrastructure.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3886200"/>
            <a:ext cx="2423160" cy="45720"/>
          </a:xfrm>
          <a:prstGeom prst="rect">
            <a:avLst/>
          </a:prstGeom>
          <a:solidFill>
            <a:srgbClr val="D5DCE4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9776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72200" y="42976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SWE-bench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· Market data: Swimm.io, IBM, SoftwareModernizationServices.com, Anthropic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Already Have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procurement required — the technical prerequisites are already in place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 already licenses everything needed to begin modernisation this sprint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269748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700784"/>
            <a:ext cx="2423160" cy="256032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0992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LICENSED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models, continuously updated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market share · 20M users · 90% of Fortune 100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Business and Pro subscribers now have direct access to Claude Opus 4.6 and GPT-5.3-Codex — the same frontier models that IBM's platform cannot reach. Deprecated models are replaced within days.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572768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572768"/>
            <a:ext cx="269748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700784"/>
            <a:ext cx="2423160" cy="256032"/>
          </a:xfrm>
          <a:prstGeom prst="rect">
            <a:avLst/>
          </a:prstGeom>
          <a:solidFill>
            <a:srgbClr val="FAEAEA"/>
          </a:solidFill>
          <a:ln w="12700">
            <a:solidFill>
              <a:srgbClr val="FA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70992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SETUP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 Mode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23774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agentic framework, already installed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67004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· builds · reviews · delegates across sessions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are defined via simple markdown files. MCP servers connect without any additional infrastructure. No new tool to learn — most developers are already using Copilot.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1572768"/>
            <a:ext cx="2697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572768"/>
            <a:ext cx="269748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700784"/>
            <a:ext cx="2423160" cy="256032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709928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DEPLOYED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72200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237744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lifecycle platform, already deployed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670048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issue tracking · code review · audit trails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of modernisation — analysis, architecture, development, QA — tracks natively in GitLab with zero additional tooling. Maps directly to regulated environment traceability requirements.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Assets · GitHub Copilot stats: secondtalent.com, github.blog, docs.github.com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repeatable mainframe modernisation factory — built on existing infrastructure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business rules, and audit artefacts are structural outputs of the pipeline — not a separate workstream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54864" cy="15727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This Sprint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3042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procurement cycle. No security review. No new infrastructure. The pipeline runs on tooling already licensed and deployed.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18688" y="1572768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572768"/>
            <a:ext cx="54864" cy="157276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64992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 Coverage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23042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analysis · dependency mapping · business rule extraction · migration architecture · code generation · QA validation.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1572768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572768"/>
            <a:ext cx="54864" cy="157276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664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AI, Updated Continuously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30428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+ GPT-5.3-Codex via GitHub Copilot. Models refresh continuously — not locked to a vendor's fixed stack.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291840"/>
            <a:ext cx="54864" cy="15727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12064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as Output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" y="40233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analysed program is documented. Business rules in plain English, dependency maps, and a queryable spec layer — produced automatically.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18688" y="3291840"/>
            <a:ext cx="2706624" cy="157276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3291840"/>
            <a:ext cx="54864" cy="157276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64992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Process, All Applications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64992" y="40233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engagement establishes the template. Every subsequent application in the estate follows the identical process without modification.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· Runs on GitHub Copilot + GitLab + BMAD agentic methodology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Squad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purpose-built agents, each scoped to a single pipeline stage — together covering full COBOL modernisation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captured once in agent configuration — reused across every application in the estate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54864" cy="7315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19751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ANALYSIS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755648" y="1645920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every program. Builds call graph, maps cross-module dependencies, extracts business rules into a structured spec layer. Configured with org macro library &amp; business glossary.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77440"/>
            <a:ext cx="54864" cy="73152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450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Oogway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" y="2779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ARCHITECT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755648" y="2450592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spec layer produced by Po. Generates target migration architecture — subsystem boundaries, service candidates, and recommended migration sequence.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182112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82112"/>
            <a:ext cx="54864" cy="731520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255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" y="35844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755648" y="3255264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GitLab throughout the engagement. Initialises epics and issues, runs sprint planning, assigns modules to milestones, maintains the live status dashboard.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86784"/>
            <a:ext cx="5212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86784"/>
            <a:ext cx="54864" cy="7315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40599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Tigress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" y="438912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CODE GENERATION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755648" y="4059936"/>
            <a:ext cx="3730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Java from the architecture and spec layer. Works in parallel with Monkey and Viper based on the migration architecture approved by Oogway.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15000" y="1572768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15000" y="1572768"/>
            <a:ext cx="54864" cy="804672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16367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61304" y="18653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GENERATION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861304" y="20299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Python from the spec layer. Operates alongside Tigress and Viper for parallel epic delivery where application dependencies permit.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15000" y="2468880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15000" y="2468880"/>
            <a:ext cx="54864" cy="804672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61304" y="25328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61304" y="27614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REFACTORING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861304" y="29260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in COBOL-to-COBOL refactoring where the migration strategy targets incremental modernisation rather than full rewrite.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15000" y="3364992"/>
            <a:ext cx="3063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15000" y="3364992"/>
            <a:ext cx="54864" cy="8046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61304" y="34290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861304" y="36576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VALIDATION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861304" y="38221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generated code against business rules in the spec layer. Produces coverage reports and manages QA sign-off on GitLab epics before each stage progresses.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15000" y="4315968"/>
            <a:ext cx="3063240" cy="475488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433425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GROUP MODE  —  All 7 agents active simultaneously for cross-domain reasoning: production incidents, critical design decisions, unblocking sessions.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Squad · Named after Kung Fu Panda characters · 4 MCP servers: cobol-parser · specdb · delta-macros · gitlab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Human-orchestrated SDLC — every stage gate is a human review in GitLab before the pipeline advances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logs to GitLab. Every stage closes with human sign-off. Nothing moves without approval.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627632"/>
            <a:ext cx="292608" cy="292608"/>
          </a:xfrm>
          <a:prstGeom prst="ellipse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1645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89320" y="16459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Owner + EA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29968"/>
            <a:ext cx="841248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084832"/>
            <a:ext cx="292608" cy="292608"/>
          </a:xfrm>
          <a:prstGeom prst="ellipse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2103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103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 · Po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103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Tech Lead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487168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" y="2542032"/>
            <a:ext cx="292608" cy="29260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542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86384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48840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Oogway · Shifu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25603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Owner + EA + Domain Expert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944368"/>
            <a:ext cx="841248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2999232"/>
            <a:ext cx="292608" cy="292608"/>
          </a:xfrm>
          <a:prstGeom prst="ellipse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" y="30175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4884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wk/epic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· Tigress · Viper · Monkey · Shifu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0175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 + App Tech Lead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401568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" y="3456432"/>
            <a:ext cx="292608" cy="292608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6384" y="34747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48840" y="3474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wks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37560" y="3474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Mantis · Shifu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34747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Owner + Tech Lead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858768"/>
            <a:ext cx="8412480" cy="402336"/>
          </a:xfrm>
          <a:prstGeom prst="rect">
            <a:avLst/>
          </a:prstGeom>
          <a:solidFill>
            <a:srgbClr val="F7F8FA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624" y="3913632"/>
            <a:ext cx="292608" cy="292608"/>
          </a:xfrm>
          <a:prstGeom prst="ellipse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" y="3931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148840" y="3931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37560" y="3931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Shifu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89320" y="39319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 Owner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315968"/>
            <a:ext cx="8412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0624" y="4370832"/>
            <a:ext cx="292608" cy="292608"/>
          </a:xfrm>
          <a:prstGeom prst="ellipse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4370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86384" y="4389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148840" y="4389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37560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Mode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89320" y="43891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Incident Owner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65760" y="15087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 Stage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148840" y="15087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37560" y="1508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Active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989320" y="1508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Required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· All reviews and approvals handled natively in GitLab — no email chains, no separate tools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Governance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roles, no new headcount — agents work under human supervision at every stage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COBOL expert's role changes, not disappears — their institutional knowledge becomes a reusable input to the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27432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5727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95144" y="15727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46704" y="15727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15384" y="15727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78624" y="15727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56232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856232"/>
            <a:ext cx="36576" cy="3017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89280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Owner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04288" y="1892808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189280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24528" y="189280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off all stage gates; holds final accountability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87768" y="18928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67128"/>
            <a:ext cx="8412480" cy="30175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167128"/>
            <a:ext cx="36576" cy="3017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220370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Team Tech Lead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04288" y="220370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5848" y="2203704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Approve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24528" y="220370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approves dev epics and testing results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87768" y="220370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Dev · Testing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2478024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478024"/>
            <a:ext cx="36576" cy="30175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51460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 Expert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04288" y="251460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Bank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55848" y="251460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Support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24528" y="251460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business context; validates extracted business rules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87768" y="251460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Dev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788920"/>
            <a:ext cx="8412480" cy="30175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2825496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Lead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304288" y="282549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55848" y="282549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24528" y="28254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engagement end-to-end; operates Shifu; manages GitLab sprints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87768" y="282549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099816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3136392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Analyst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04288" y="3136392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55848" y="3136392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24528" y="31363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all Po workflows; reviews and corrects analysis output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87768" y="3136392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· Dev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410712"/>
            <a:ext cx="8412480" cy="30175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3447288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04288" y="3447288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55848" y="344728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224528" y="3447288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user stories from extracted business rules; manages epic backlog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87768" y="344728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721608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" y="3758184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304288" y="375818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355848" y="3758184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24528" y="3758184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refine, and own all generated code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287768" y="3758184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4032504"/>
            <a:ext cx="8412480" cy="30175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" y="4069080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304288" y="4069080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355848" y="4069080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+ ✅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224528" y="406908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migration architecture; approves technical design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87768" y="406908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· Plan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4343400"/>
            <a:ext cx="841248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" y="4379976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2304288" y="4379976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Infosys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355848" y="4379976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Execute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224528" y="437997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project governance, risk, budget, and stakeholder communication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287768" y="4379976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65760" y="4727448"/>
            <a:ext cx="8412480" cy="128016"/>
          </a:xfrm>
          <a:prstGeom prst="rect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736592"/>
            <a:ext cx="8229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Infosys team: 3–5 annualised headcount for a ~700-module / 500,000 LOC application  ·  Red accent = Bank sign-off required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Governance · All approvals recorded natively in GitLab — full audit trail for regulated environments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Factory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 — each delivers working output while establishing the capability for the 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proves the pipeline. Stage 2 validates it end-to-end. Stage 3 scales it — at 2.5 HC per application per year.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377440" cy="2926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6 months · 6 HC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572768"/>
            <a:ext cx="274320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5727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7 months · 6 HC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572768"/>
            <a:ext cx="3291840" cy="292608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5727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Ongoing · scaled by volume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38528"/>
            <a:ext cx="274320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48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version of agent squad built and configured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834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 aligned to org environment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27355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epic completed on a real application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71246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validated against actual COBOL codebase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224528"/>
            <a:ext cx="2468880" cy="320040"/>
          </a:xfrm>
          <a:prstGeom prst="rect">
            <a:avLst/>
          </a:prstGeom>
          <a:solidFill>
            <a:srgbClr val="D6E8F7"/>
          </a:solidFill>
          <a:ln w="6350">
            <a:solidFill>
              <a:srgbClr val="0D62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242816"/>
            <a:ext cx="23408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Working pipeline + trained team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938528"/>
            <a:ext cx="26974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938528"/>
            <a:ext cx="269748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04825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Application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239572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target application through complete pipeline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28346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epics, full testing, production monitoring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327355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v2 refined with real application patterns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37560" y="3712464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process proven end to 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4224528"/>
            <a:ext cx="2423160" cy="320040"/>
          </a:xfrm>
          <a:prstGeom prst="rect">
            <a:avLst/>
          </a:prstGeom>
          <a:solidFill>
            <a:srgbClr val="FAEAEA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4242816"/>
            <a:ext cx="229514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1 app modernised + proven factory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1938528"/>
            <a:ext cx="2788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89320" y="1938528"/>
            <a:ext cx="2788920" cy="64008"/>
          </a:xfrm>
          <a:prstGeom prst="rect">
            <a:avLst/>
          </a:prstGeom>
          <a:solidFill>
            <a:srgbClr val="3D4F61"/>
          </a:solidFill>
          <a:ln w="12700">
            <a:solidFill>
              <a:srgbClr val="3D4F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20482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 Factory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26480" y="239572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operation at 2.5 HC per application per annum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283464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analysis, development, QA, and delivery management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0" y="327355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run concurrently through the pipeline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26480" y="3712464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identical for every subsequent application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126480" y="4224528"/>
            <a:ext cx="2514600" cy="320040"/>
          </a:xfrm>
          <a:prstGeom prst="rect">
            <a:avLst/>
          </a:prstGeom>
          <a:solidFill>
            <a:srgbClr val="EDF0F4"/>
          </a:solidFill>
          <a:ln w="6350">
            <a:solidFill>
              <a:srgbClr val="3D4F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4242816"/>
            <a:ext cx="2386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2.5 HC per app/year steady state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Build · Pilot begins immediately on existing tooling — no procurement, no delay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&amp; Competitive Landscape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modernisation market is growing — and every existing tool has the same critical gaps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lost $31B in market cap in a single day when Anthropic announced COBOL capabilities — the market has already decided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2011680" cy="93268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36192"/>
            <a:ext cx="2011680" cy="5486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910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$8.4B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19751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(2025)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87168" y="1536192"/>
            <a:ext cx="2011680" cy="93268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536192"/>
            <a:ext cx="2011680" cy="5486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5910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$13.3B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78608" y="19751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(2030)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08576" y="1536192"/>
            <a:ext cx="2011680" cy="93268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536192"/>
            <a:ext cx="2011680" cy="54864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15910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00016" y="19751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29984" y="1536192"/>
            <a:ext cx="2011680" cy="932688"/>
          </a:xfrm>
          <a:prstGeom prst="rect">
            <a:avLst/>
          </a:prstGeom>
          <a:solidFill>
            <a:srgbClr val="F7F8FA"/>
          </a:solidFill>
          <a:ln w="12700">
            <a:solidFill>
              <a:srgbClr val="D5DC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9984" y="1536192"/>
            <a:ext cx="201168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5910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21424" y="19751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stock drop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Anthropic COBOL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606040"/>
            <a:ext cx="8412480" cy="27432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633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Approach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926080" y="2633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434840" y="26334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58000" y="26334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Rules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562088" y="26334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IR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0456" y="263347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2898648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29352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 Code Assistant for Z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926080" y="2935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34840" y="2935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/ Granite (fixed)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0" y="29352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62088" y="29352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0456" y="2935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264408"/>
            <a:ext cx="8412480" cy="34747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" y="3300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Mainframe Modernisation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926080" y="3300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4840" y="3300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AWS-hosted (fixed)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58000" y="33009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562088" y="33009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20456" y="33009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630168"/>
            <a:ext cx="841248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0624" y="3666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Focus / OpenText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26080" y="36667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434840" y="36667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(fixed)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58000" y="36667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562088" y="36667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20456" y="3666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995928"/>
            <a:ext cx="8412480" cy="347472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" y="4032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Bankdata (open source)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926080" y="4032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req.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434840" y="4032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(fixed)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403250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562088" y="4032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220456" y="40325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4361688"/>
            <a:ext cx="8412480" cy="347472"/>
          </a:xfrm>
          <a:prstGeom prst="rect">
            <a:avLst/>
          </a:prstGeom>
          <a:solidFill>
            <a:srgbClr val="D6E8F7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4361688"/>
            <a:ext cx="54864" cy="347472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0624" y="4398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926080" y="4398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— start next week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434840" y="4398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4.6 + GPT-5.3-Codex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858000" y="43982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562088" y="4398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8220456" y="4398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· MarketsAndMarkets, IBM, Deloitte, CNBC/Bloomberg, Anthropic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73152" cy="8229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Privacy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30352" y="621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local-first — COBOL source code never leaves the client environment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7840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regulated financial institution, data handling is a primary concern — every design choice reflects this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192024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 Codebase)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in-place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2121408"/>
            <a:ext cx="54864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688336" y="20299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06040" y="1572768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2A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06040" y="1572768"/>
            <a:ext cx="192024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Squad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(GitHub Copilot)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context only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121408"/>
            <a:ext cx="54864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928616" y="20299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572768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72768"/>
            <a:ext cx="1920240" cy="64008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Layer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 SQLite)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LOCAL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Gitignored, configurable path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2121408"/>
            <a:ext cx="548640" cy="0"/>
          </a:xfrm>
          <a:prstGeom prst="line">
            <a:avLst/>
          </a:prstGeom>
          <a:noFill/>
          <a:ln w="19050">
            <a:solidFill>
              <a:srgbClr val="8A9BB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168896" y="20299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1572768"/>
            <a:ext cx="19202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62A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86600" y="1572768"/>
            <a:ext cx="1920240" cy="64008"/>
          </a:xfrm>
          <a:prstGeom prst="rect">
            <a:avLst/>
          </a:prstGeom>
          <a:solidFill>
            <a:srgbClr val="0D62A4"/>
          </a:solidFill>
          <a:ln w="12700">
            <a:solidFill>
              <a:srgbClr val="0D62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1645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(Status &amp; Artefacts)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21031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ONLY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6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COBOL source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834640"/>
            <a:ext cx="8412480" cy="320040"/>
          </a:xfrm>
          <a:prstGeom prst="rect">
            <a:avLst/>
          </a:prstGeom>
          <a:solidFill>
            <a:srgbClr val="FAEAEA"/>
          </a:solidFill>
          <a:ln w="6350">
            <a:solidFill>
              <a:srgbClr val="CC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862072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(Claude / GPT) receives minimum context only — the specific cluster under analysis, never full program dumps or raw source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273552"/>
            <a:ext cx="8412480" cy="25603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37560" y="329184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547872"/>
            <a:ext cx="8412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5661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Source code stays local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3566160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MCP servers run locally via STDIO — no source code transmitted to external services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803904"/>
            <a:ext cx="8412480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822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Spec layer stays local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37560" y="382219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stored on local machine; path is configurable and gitignored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059936"/>
            <a:ext cx="8412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782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LLM context is scoped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37560" y="407822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limited to the specific cluster under analysis — no full program dumps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315968"/>
            <a:ext cx="8412480" cy="246888"/>
          </a:xfrm>
          <a:prstGeom prst="rect">
            <a:avLst/>
          </a:prstGeom>
          <a:solidFill>
            <a:srgbClr val="F7F8FA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3342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GitLab receives metadata only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37560" y="4334256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labels, status comments, and structured summaries — not raw COBOL source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572000"/>
            <a:ext cx="8412480" cy="246888"/>
          </a:xfrm>
          <a:prstGeom prst="rect">
            <a:avLst/>
          </a:prstGeom>
          <a:solidFill>
            <a:srgbClr val="FFFFFF"/>
          </a:solidFill>
          <a:ln w="3810">
            <a:solidFill>
              <a:srgbClr val="D5DC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5902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Credentials via env vars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37560" y="45902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token held in GITLAB_TOKEN env var — never written to config files or agent definitions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A2633"/>
          </a:solidFill>
          <a:ln w="12700">
            <a:solidFill>
              <a:srgbClr val="1A26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919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Privacy · Local-first architecture · Designed for regulated financial services environments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83680" y="4919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× UBS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Mainframe Modernisation with AI Agents</dc:title>
  <dc:subject>PptxGenJS Presentation</dc:subject>
  <dc:creator>PptxGenJS</dc:creator>
  <cp:lastModifiedBy>PptxGenJS</cp:lastModifiedBy>
  <cp:revision>1</cp:revision>
  <dcterms:created xsi:type="dcterms:W3CDTF">2026-03-09T05:57:00Z</dcterms:created>
  <dcterms:modified xsi:type="dcterms:W3CDTF">2026-03-09T05:57:00Z</dcterms:modified>
</cp:coreProperties>
</file>